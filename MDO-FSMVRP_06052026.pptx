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7" r:id="rId4"/>
    <p:sldId id="258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1"/>
    <p:restoredTop sz="94671"/>
  </p:normalViewPr>
  <p:slideViewPr>
    <p:cSldViewPr snapToGrid="0">
      <p:cViewPr>
        <p:scale>
          <a:sx n="107" d="100"/>
          <a:sy n="107" d="100"/>
        </p:scale>
        <p:origin x="864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EBC06-69D5-AE47-7A50-D916173F0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A9E94-E7F9-8886-158E-8E422746D3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79643-F4E5-EF54-374F-3C35199DB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AAB41-DC59-DD48-902E-2159918FB95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B79BB-D359-FFAB-8EA5-3482FD37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4D7C1-3AAD-8E51-A827-356C2620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C4DF-753B-1D4C-A8AE-5464B141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9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AD1B-0DC1-F605-75BD-7E2A64C2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0A650-B0BE-C38B-AD8D-0B0A3C054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7760E-D65D-707B-2C6E-49C44EFF3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AAB41-DC59-DD48-902E-2159918FB95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1F11D-647C-7CE1-9543-9AC883BCC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7F4B6-0C5F-632E-830C-1C925089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C4DF-753B-1D4C-A8AE-5464B141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9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E85BE-DB8E-AD0F-5D53-43F9380A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7023E-7D19-5B21-56F1-D26D0E52F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9D94B-7C4E-9AE2-3659-8579976C0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AAB41-DC59-DD48-902E-2159918FB95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70C5C-3986-2C5F-CA65-C3F0A1D65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3CFCD-91A8-7499-AD5C-E8E5E4EC9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C4DF-753B-1D4C-A8AE-5464B141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1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4288E-E0EE-2445-ABDB-14144200D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D398-CF5B-BDDB-FE87-BD4126F6EE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935AE-3D01-EC03-BB42-AEF6BC840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C86F9-B35D-2274-5B80-E31F073D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AAB41-DC59-DD48-902E-2159918FB950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F0112-A2AE-E65E-99C9-A5733A2D6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A4279-CC83-B3E9-42A5-CF62F073F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C4DF-753B-1D4C-A8AE-5464B141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0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43D24-90F1-D946-CDAF-62760D8B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40447-CFC2-E4BB-A902-D3F9B6899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DC6F0-6F83-D639-1FC3-50D476924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66AC0-5E1C-5BEA-20A6-42C5334171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1B117-E79B-6837-A7A1-2C37B0B6A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AC2D64-A903-1956-9FEC-5C6E951F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AAB41-DC59-DD48-902E-2159918FB950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889E05-FAA6-513E-4289-B18FE75F2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18DAC3-7B18-A507-6537-C0F563C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C4DF-753B-1D4C-A8AE-5464B141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875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AE8A5-A16E-BC17-DBF0-A5748F4C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06B6AF-B6CA-F10A-3AC1-D445EA222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AAB41-DC59-DD48-902E-2159918FB950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AE05B-878A-FE97-FAC6-0B4B50A6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38261-64AC-77C0-3724-499A8E82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C4DF-753B-1D4C-A8AE-5464B141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ED749D-2EC1-4151-BEE9-3DE160FEB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AAB41-DC59-DD48-902E-2159918FB950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C9C25F-8F7B-C2AC-CC73-FDCA6C42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C2C98-00AA-219C-458B-713B7BA8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C4DF-753B-1D4C-A8AE-5464B141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59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83E13-9437-8E5F-7695-F05215791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612CC-AA66-767B-AD03-B54D2F28A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E7689-C3D2-4725-18B2-13D4F0C27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9C961-748F-AF89-E063-F4C1B005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AAB41-DC59-DD48-902E-2159918FB950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3ED48-8DE1-6CB1-133D-34810BCA8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7B16B-A9B7-6741-686F-298909C5D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C4DF-753B-1D4C-A8AE-5464B141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33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F648-5FEF-6DD7-BA8E-5CB54F7D8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A21939-6F8D-121C-A7F5-109BCD6B7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70A34-F342-F4AF-8E2A-7AEBA09B5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3DD3F-373A-985D-C9D6-56BD2AB4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AAB41-DC59-DD48-902E-2159918FB950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83BBB-9CB5-6188-D299-135FF526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B7B4F-4916-987D-ECE9-8C79B325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C4DF-753B-1D4C-A8AE-5464B141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57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906AE-0588-E524-7B9F-B5C73FE6A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70D7B-2B98-A8D2-6E0A-4D4D805BF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A7CE4-1472-43EA-6961-BEBC84CF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AAB41-DC59-DD48-902E-2159918FB95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83873-43B7-A084-67C5-61757B12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637CE-D31A-0D70-C69D-E1C13F13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C4DF-753B-1D4C-A8AE-5464B141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82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25F15C-C1C1-14F1-10D4-01756ECCC3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AAB3D-25B2-6D64-53B4-89D3B6E00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6D723-3FE1-470A-2ED6-7F88DD6E9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AAB41-DC59-DD48-902E-2159918FB95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D74E5-8464-C748-01C8-89F5A94E0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19F24-DC37-91BB-DBD4-7DAA333B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C4DF-753B-1D4C-A8AE-5464B141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2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FCFAE2-606F-7B5C-149E-3DEFA4371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1D32D-E7A5-ED2A-AC9C-8614A7292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8A501-8D98-212F-4BC1-7AFDA5F0A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CAAB41-DC59-DD48-902E-2159918FB950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5D3D0-F14C-4436-5F66-880C11964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C03E8-538D-093F-080C-DAFE78FA7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5C4DF-753B-1D4C-A8AE-5464B141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88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i.org/10.2514/1.C03692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02C617-7D9E-CB0C-509C-402D38E3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</p:spPr>
        <p:txBody>
          <a:bodyPr anchor="ctr">
            <a:normAutofit/>
          </a:bodyPr>
          <a:lstStyle/>
          <a:p>
            <a:r>
              <a:rPr lang="en-US" dirty="0"/>
              <a:t>Replication</a:t>
            </a:r>
            <a:br>
              <a:rPr lang="en-US" dirty="0"/>
            </a:br>
            <a:r>
              <a:rPr lang="en-US" sz="1200" dirty="0">
                <a:effectLst/>
              </a:rPr>
              <a:t>Kaneko, S., Martins, J.R.R.A., 2023. Fleet Design Optimization of Package Delivery Unmanned Aerial Vehicles Considering Operations. Journal of Aircraft 60, 1061–1077. </a:t>
            </a:r>
            <a:r>
              <a:rPr lang="en-US" sz="1200" dirty="0">
                <a:effectLst/>
                <a:hlinkClick r:id="rId2"/>
              </a:rPr>
              <a:t>https://doi.org/10.2514/1.C036921</a:t>
            </a:r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F14E2-B608-0B00-8DBC-EA1A24BA2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520" y="364143"/>
            <a:ext cx="2998155" cy="3426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85BF32-B34A-54D3-1586-2748619B5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264" y="1152750"/>
            <a:ext cx="5136795" cy="184924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0C553-157E-AF5E-CEF0-3CDD795CB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495568"/>
            <a:ext cx="6586915" cy="1905232"/>
          </a:xfrm>
        </p:spPr>
        <p:txBody>
          <a:bodyPr anchor="ctr">
            <a:normAutofit/>
          </a:bodyPr>
          <a:lstStyle/>
          <a:p>
            <a:r>
              <a:rPr lang="en-US" sz="1800" dirty="0"/>
              <a:t>Replication of conceptual sizing models for min. $W_{total}$ </a:t>
            </a:r>
          </a:p>
        </p:txBody>
      </p:sp>
    </p:spTree>
    <p:extLst>
      <p:ext uri="{BB962C8B-B14F-4D97-AF65-F5344CB8AC3E}">
        <p14:creationId xmlns:p14="http://schemas.microsoft.com/office/powerpoint/2010/main" val="2816978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34AF0E-0987-B146-1137-E816896E6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174" y="4142509"/>
            <a:ext cx="5484190" cy="25732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F92895-B41A-D3CF-C18F-35D163708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28860"/>
            <a:ext cx="5512886" cy="25732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20228E-3901-5185-2848-2D1503A00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03" y="1245289"/>
            <a:ext cx="5069389" cy="18296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40726B-FF65-EDDA-48CB-49905C2EC912}"/>
              </a:ext>
            </a:extLst>
          </p:cNvPr>
          <p:cNvSpPr txBox="1"/>
          <p:nvPr/>
        </p:nvSpPr>
        <p:spPr>
          <a:xfrm>
            <a:off x="327314" y="3116590"/>
            <a:ext cx="462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Govindarajan, B., and Sridharan, A., “Conceptual Sizing of Vertical Lift  Package Delivery Platforms,” Journal of Aircraft, Vol. 57, No. 6, 2020, pp. 1170–1188.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4C9296-3523-F00D-D92C-A57AB079A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70" y="4548687"/>
            <a:ext cx="2886789" cy="1730193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0A2AF098-2FB7-4A16-1033-6A57BEB714A8}"/>
              </a:ext>
            </a:extLst>
          </p:cNvPr>
          <p:cNvSpPr/>
          <p:nvPr/>
        </p:nvSpPr>
        <p:spPr>
          <a:xfrm rot="5400000">
            <a:off x="3818812" y="5390053"/>
            <a:ext cx="1554134" cy="22352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C1F77123-C1EA-AC3A-2C93-9F036E607FBF}"/>
              </a:ext>
            </a:extLst>
          </p:cNvPr>
          <p:cNvSpPr/>
          <p:nvPr/>
        </p:nvSpPr>
        <p:spPr>
          <a:xfrm rot="16200000">
            <a:off x="4061287" y="5390053"/>
            <a:ext cx="1554134" cy="22352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8FE1CB-2935-858A-DB4A-D84DDA20E096}"/>
              </a:ext>
            </a:extLst>
          </p:cNvPr>
          <p:cNvSpPr txBox="1"/>
          <p:nvPr/>
        </p:nvSpPr>
        <p:spPr>
          <a:xfrm>
            <a:off x="4378038" y="4321634"/>
            <a:ext cx="68159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970A01-ED21-936E-666A-A6050FB4C9CD}"/>
              </a:ext>
            </a:extLst>
          </p:cNvPr>
          <p:cNvSpPr txBox="1"/>
          <p:nvPr/>
        </p:nvSpPr>
        <p:spPr>
          <a:xfrm>
            <a:off x="4333154" y="6312659"/>
            <a:ext cx="72648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/>
              <a:t>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EDFB7-9A6D-AE26-050F-8F4CE8316780}"/>
              </a:ext>
            </a:extLst>
          </p:cNvPr>
          <p:cNvSpPr txBox="1"/>
          <p:nvPr/>
        </p:nvSpPr>
        <p:spPr>
          <a:xfrm>
            <a:off x="4238089" y="4690966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62FCBF-1983-DC31-7A90-2D3036F14665}"/>
              </a:ext>
            </a:extLst>
          </p:cNvPr>
          <p:cNvSpPr txBox="1"/>
          <p:nvPr/>
        </p:nvSpPr>
        <p:spPr>
          <a:xfrm>
            <a:off x="4195703" y="5842172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6D4E78-FDA5-3F15-90A9-CFC8AFEC3FC0}"/>
              </a:ext>
            </a:extLst>
          </p:cNvPr>
          <p:cNvSpPr txBox="1"/>
          <p:nvPr/>
        </p:nvSpPr>
        <p:spPr>
          <a:xfrm>
            <a:off x="4942809" y="5842172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54D7B-BF06-6634-46E4-6DC0FB53766F}"/>
              </a:ext>
            </a:extLst>
          </p:cNvPr>
          <p:cNvSpPr txBox="1"/>
          <p:nvPr/>
        </p:nvSpPr>
        <p:spPr>
          <a:xfrm>
            <a:off x="4963222" y="4690966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F4BEF8-7785-1E4E-ED75-234249589B4E}"/>
              </a:ext>
            </a:extLst>
          </p:cNvPr>
          <p:cNvSpPr txBox="1"/>
          <p:nvPr/>
        </p:nvSpPr>
        <p:spPr>
          <a:xfrm>
            <a:off x="5005004" y="518579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V_inf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9D7F60-9322-2F94-92EE-07AB68A19257}"/>
              </a:ext>
            </a:extLst>
          </p:cNvPr>
          <p:cNvSpPr txBox="1"/>
          <p:nvPr/>
        </p:nvSpPr>
        <p:spPr>
          <a:xfrm>
            <a:off x="3728350" y="517604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V_inf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255812-F924-E338-E48D-E7432414F2F8}"/>
              </a:ext>
            </a:extLst>
          </p:cNvPr>
          <p:cNvSpPr txBox="1"/>
          <p:nvPr/>
        </p:nvSpPr>
        <p:spPr>
          <a:xfrm>
            <a:off x="3394031" y="4890220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60s hover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8AF144-A1F5-B403-E523-E7581F56B11E}"/>
              </a:ext>
            </a:extLst>
          </p:cNvPr>
          <p:cNvSpPr txBox="1"/>
          <p:nvPr/>
        </p:nvSpPr>
        <p:spPr>
          <a:xfrm>
            <a:off x="3224300" y="6109600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60s hover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52AF7E-A746-1A85-D613-FB08F9AF1A8D}"/>
              </a:ext>
            </a:extLst>
          </p:cNvPr>
          <p:cNvSpPr txBox="1"/>
          <p:nvPr/>
        </p:nvSpPr>
        <p:spPr>
          <a:xfrm>
            <a:off x="5007240" y="6129220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60s hover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8D9FD8-3BB2-5F62-6426-302310CCE27A}"/>
              </a:ext>
            </a:extLst>
          </p:cNvPr>
          <p:cNvSpPr txBox="1"/>
          <p:nvPr/>
        </p:nvSpPr>
        <p:spPr>
          <a:xfrm>
            <a:off x="4978578" y="4926210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60s hover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436577-C1BD-B45D-6861-0B063023E4F2}"/>
              </a:ext>
            </a:extLst>
          </p:cNvPr>
          <p:cNvSpPr txBox="1"/>
          <p:nvPr/>
        </p:nvSpPr>
        <p:spPr>
          <a:xfrm>
            <a:off x="5037916" y="547284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R_nb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DBAD83-BFA6-5D62-98C0-83A63BFB0448}"/>
              </a:ext>
            </a:extLst>
          </p:cNvPr>
          <p:cNvSpPr txBox="1"/>
          <p:nvPr/>
        </p:nvSpPr>
        <p:spPr>
          <a:xfrm>
            <a:off x="3747642" y="5499841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R_bn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BE8AF9-47CB-2551-9EE4-C1E56C2BCEE4}"/>
              </a:ext>
            </a:extLst>
          </p:cNvPr>
          <p:cNvSpPr txBox="1"/>
          <p:nvPr/>
        </p:nvSpPr>
        <p:spPr>
          <a:xfrm>
            <a:off x="3777166" y="3988569"/>
            <a:ext cx="1829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R_bn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R_nb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74559B-85A5-D6E8-95D6-95724DFA5AE3}"/>
              </a:ext>
            </a:extLst>
          </p:cNvPr>
          <p:cNvSpPr txBox="1"/>
          <p:nvPr/>
        </p:nvSpPr>
        <p:spPr>
          <a:xfrm>
            <a:off x="3621716" y="3720129"/>
            <a:ext cx="225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Node Problem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2AE396B-A312-B1AB-2981-68E0A21F3E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5056" y="158023"/>
            <a:ext cx="3289300" cy="3429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46CA81B-B3E7-7751-855B-C2903BBECAA5}"/>
              </a:ext>
            </a:extLst>
          </p:cNvPr>
          <p:cNvSpPr txBox="1"/>
          <p:nvPr/>
        </p:nvSpPr>
        <p:spPr>
          <a:xfrm>
            <a:off x="193032" y="173250"/>
            <a:ext cx="6099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inputs and outputs of the sizing module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C2AE06F-24C2-9790-DF34-4F92FBA7B7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7761" y="558314"/>
            <a:ext cx="2781300" cy="5842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EB0471D-CF18-419B-FAA5-2E4C77478DAB}"/>
              </a:ext>
            </a:extLst>
          </p:cNvPr>
          <p:cNvSpPr txBox="1"/>
          <p:nvPr/>
        </p:nvSpPr>
        <p:spPr>
          <a:xfrm>
            <a:off x="193032" y="659955"/>
            <a:ext cx="2292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Mission energy req. </a:t>
            </a:r>
          </a:p>
        </p:txBody>
      </p:sp>
    </p:spTree>
    <p:extLst>
      <p:ext uri="{BB962C8B-B14F-4D97-AF65-F5344CB8AC3E}">
        <p14:creationId xmlns:p14="http://schemas.microsoft.com/office/powerpoint/2010/main" val="2815318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F87A0F-E7D5-981D-FFA3-3A7D2D3E6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628" y="3041072"/>
            <a:ext cx="3667314" cy="3715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4EA415-384B-AA3F-09C6-37BBF305C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976" y="1520572"/>
            <a:ext cx="3395652" cy="16798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6A7EFF-2FCB-5F8F-F4BB-D874BA3B5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991" y="1361243"/>
            <a:ext cx="3512951" cy="16798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D2FCCC-DA84-40F3-A5F0-8F16D0E87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976" y="3200400"/>
            <a:ext cx="3395652" cy="34926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0F4A04-0A15-31A8-72A6-8AD3FAD7DD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058" y="1361243"/>
            <a:ext cx="4409894" cy="51831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ACE1EC-3E6F-0712-CA6A-4AD43218DBF2}"/>
              </a:ext>
            </a:extLst>
          </p:cNvPr>
          <p:cNvSpPr txBox="1"/>
          <p:nvPr/>
        </p:nvSpPr>
        <p:spPr>
          <a:xfrm>
            <a:off x="403291" y="346317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matching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555F48-C51B-1B07-4348-56DFFDFCD664}"/>
              </a:ext>
            </a:extLst>
          </p:cNvPr>
          <p:cNvSpPr txBox="1"/>
          <p:nvPr/>
        </p:nvSpPr>
        <p:spPr>
          <a:xfrm>
            <a:off x="9573491" y="207818"/>
            <a:ext cx="2495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MDO-FSMVRP Model</a:t>
            </a:r>
          </a:p>
          <a:p>
            <a:r>
              <a:rPr lang="en-US" dirty="0"/>
              <a:t>06.05.2026</a:t>
            </a:r>
          </a:p>
        </p:txBody>
      </p:sp>
    </p:spTree>
    <p:extLst>
      <p:ext uri="{BB962C8B-B14F-4D97-AF65-F5344CB8AC3E}">
        <p14:creationId xmlns:p14="http://schemas.microsoft.com/office/powerpoint/2010/main" val="1255717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B23105A0-32C7-CD3B-DFF5-01CCC4B15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416145"/>
            <a:ext cx="3517119" cy="4019563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F80A44F1-4B9F-F698-35A4-2AD65DC16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919" y="1393030"/>
            <a:ext cx="3537345" cy="4042678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6D6FA692-79DC-A28F-E413-1E654E25F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75" y="1416145"/>
            <a:ext cx="3517120" cy="4019564"/>
          </a:xfrm>
          <a:prstGeom prst="rect">
            <a:avLst/>
          </a:prstGeom>
        </p:spPr>
      </p:pic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13892DFA-52A5-B935-68CA-5A66841A8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953692"/>
              </p:ext>
            </p:extLst>
          </p:nvPr>
        </p:nvGraphicFramePr>
        <p:xfrm>
          <a:off x="484631" y="5507565"/>
          <a:ext cx="3517120" cy="1219200"/>
        </p:xfrm>
        <a:graphic>
          <a:graphicData uri="http://schemas.openxmlformats.org/drawingml/2006/table">
            <a:tbl>
              <a:tblPr/>
              <a:tblGrid>
                <a:gridCol w="314690">
                  <a:extLst>
                    <a:ext uri="{9D8B030D-6E8A-4147-A177-3AD203B41FA5}">
                      <a16:colId xmlns:a16="http://schemas.microsoft.com/office/drawing/2014/main" val="1949547937"/>
                    </a:ext>
                  </a:extLst>
                </a:gridCol>
                <a:gridCol w="1832604">
                  <a:extLst>
                    <a:ext uri="{9D8B030D-6E8A-4147-A177-3AD203B41FA5}">
                      <a16:colId xmlns:a16="http://schemas.microsoft.com/office/drawing/2014/main" val="3950144510"/>
                    </a:ext>
                  </a:extLst>
                </a:gridCol>
                <a:gridCol w="1369826">
                  <a:extLst>
                    <a:ext uri="{9D8B030D-6E8A-4147-A177-3AD203B41FA5}">
                      <a16:colId xmlns:a16="http://schemas.microsoft.com/office/drawing/2014/main" val="4014041281"/>
                    </a:ext>
                  </a:extLst>
                </a:gridCol>
              </a:tblGrid>
              <a:tr h="223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n_c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MTOM_kg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Range_km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072460"/>
                  </a:ext>
                </a:extLst>
              </a:tr>
              <a:tr h="1906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34.53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317070"/>
                  </a:ext>
                </a:extLst>
              </a:tr>
              <a:tr h="1906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3.15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42.67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336402"/>
                  </a:ext>
                </a:extLst>
              </a:tr>
              <a:tr h="1906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50.41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654933"/>
                  </a:ext>
                </a:extLst>
              </a:tr>
              <a:tr h="1906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56.94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533929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DDE5F22A-FDDA-5884-D921-D8D7D4134BB9}"/>
              </a:ext>
            </a:extLst>
          </p:cNvPr>
          <p:cNvSpPr txBox="1"/>
          <p:nvPr/>
        </p:nvSpPr>
        <p:spPr>
          <a:xfrm>
            <a:off x="484631" y="480767"/>
            <a:ext cx="49741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Breakeven for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MTOM_QBiT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MTOM_Hexarotor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MTOM = f(R,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n_c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R [10;60],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n_c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[1;5]</a:t>
            </a: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F4D84922-2821-ECCA-7D11-C4E9540E1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550157"/>
              </p:ext>
            </p:extLst>
          </p:nvPr>
        </p:nvGraphicFramePr>
        <p:xfrm>
          <a:off x="4286249" y="5507565"/>
          <a:ext cx="3471145" cy="975360"/>
        </p:xfrm>
        <a:graphic>
          <a:graphicData uri="http://schemas.openxmlformats.org/drawingml/2006/table">
            <a:tbl>
              <a:tblPr/>
              <a:tblGrid>
                <a:gridCol w="310576">
                  <a:extLst>
                    <a:ext uri="{9D8B030D-6E8A-4147-A177-3AD203B41FA5}">
                      <a16:colId xmlns:a16="http://schemas.microsoft.com/office/drawing/2014/main" val="3075647286"/>
                    </a:ext>
                  </a:extLst>
                </a:gridCol>
                <a:gridCol w="1808649">
                  <a:extLst>
                    <a:ext uri="{9D8B030D-6E8A-4147-A177-3AD203B41FA5}">
                      <a16:colId xmlns:a16="http://schemas.microsoft.com/office/drawing/2014/main" val="202305919"/>
                    </a:ext>
                  </a:extLst>
                </a:gridCol>
                <a:gridCol w="1351920">
                  <a:extLst>
                    <a:ext uri="{9D8B030D-6E8A-4147-A177-3AD203B41FA5}">
                      <a16:colId xmlns:a16="http://schemas.microsoft.com/office/drawing/2014/main" val="3237872465"/>
                    </a:ext>
                  </a:extLst>
                </a:gridCol>
              </a:tblGrid>
              <a:tr h="104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n_c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MTOM_kg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Range_km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75078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7.18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42.18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724224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7.93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49.28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986545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8.78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55.32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57640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24E47B1D-9FFB-E05C-3AEB-8748EAE1D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418512"/>
              </p:ext>
            </p:extLst>
          </p:nvPr>
        </p:nvGraphicFramePr>
        <p:xfrm>
          <a:off x="8190250" y="5507565"/>
          <a:ext cx="3343014" cy="975360"/>
        </p:xfrm>
        <a:graphic>
          <a:graphicData uri="http://schemas.openxmlformats.org/drawingml/2006/table">
            <a:tbl>
              <a:tblPr/>
              <a:tblGrid>
                <a:gridCol w="299112">
                  <a:extLst>
                    <a:ext uri="{9D8B030D-6E8A-4147-A177-3AD203B41FA5}">
                      <a16:colId xmlns:a16="http://schemas.microsoft.com/office/drawing/2014/main" val="451101398"/>
                    </a:ext>
                  </a:extLst>
                </a:gridCol>
                <a:gridCol w="1741886">
                  <a:extLst>
                    <a:ext uri="{9D8B030D-6E8A-4147-A177-3AD203B41FA5}">
                      <a16:colId xmlns:a16="http://schemas.microsoft.com/office/drawing/2014/main" val="3557126697"/>
                    </a:ext>
                  </a:extLst>
                </a:gridCol>
                <a:gridCol w="1302016">
                  <a:extLst>
                    <a:ext uri="{9D8B030D-6E8A-4147-A177-3AD203B41FA5}">
                      <a16:colId xmlns:a16="http://schemas.microsoft.com/office/drawing/2014/main" val="888153924"/>
                    </a:ext>
                  </a:extLst>
                </a:gridCol>
              </a:tblGrid>
              <a:tr h="104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n_c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MTOM_kg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Range_km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69617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11.49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43.64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65061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12.7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50.62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308432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14.05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56.54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543843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1E510BB3-907E-C83B-02EC-813C775C1074}"/>
              </a:ext>
            </a:extLst>
          </p:cNvPr>
          <p:cNvSpPr txBox="1"/>
          <p:nvPr/>
        </p:nvSpPr>
        <p:spPr>
          <a:xfrm>
            <a:off x="-21954" y="6978197"/>
            <a:ext cx="12213954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“For single-customer delivery, the “switch” of the takeoff weight occurred between a 30 and 50 km range, depending on the payload weight.”(1), p. 5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D617B5-9D2C-CF0E-9558-633CCD8B3D1B}"/>
              </a:ext>
            </a:extLst>
          </p:cNvPr>
          <p:cNvSpPr txBox="1"/>
          <p:nvPr/>
        </p:nvSpPr>
        <p:spPr>
          <a:xfrm>
            <a:off x="0" y="7293592"/>
            <a:ext cx="121920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Hexarotor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 preferable for short-range flights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multicustomer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delivery.” (1), p.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3B0B67-941C-A71C-C576-C9026E9ADD3B}"/>
              </a:ext>
            </a:extLst>
          </p:cNvPr>
          <p:cNvSpPr txBox="1"/>
          <p:nvPr/>
        </p:nvSpPr>
        <p:spPr>
          <a:xfrm>
            <a:off x="-1" y="7608988"/>
            <a:ext cx="11954491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QBiT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more efficient in cruise because of its wings, making it a viable option for long-range delivery with a few customers.” (1), p. 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9904D43-1033-6556-1FC4-B3D8390F8A89}"/>
              </a:ext>
            </a:extLst>
          </p:cNvPr>
          <p:cNvSpPr txBox="1"/>
          <p:nvPr/>
        </p:nvSpPr>
        <p:spPr>
          <a:xfrm>
            <a:off x="0" y="7923199"/>
            <a:ext cx="1153886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takeoff weight was smaller with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hexarotors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shorter ranges, whereas 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hexarotors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became heavier than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QBiTs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longer-range missions.” (1), p. 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9649536-590C-02A4-A9E7-D1B0558B5B70}"/>
              </a:ext>
            </a:extLst>
          </p:cNvPr>
          <p:cNvSpPr txBox="1"/>
          <p:nvPr/>
        </p:nvSpPr>
        <p:spPr>
          <a:xfrm>
            <a:off x="-21954" y="8237410"/>
            <a:ext cx="11910951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“For four-customer delivery, 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hexarotor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 was smaller for all payload weights up to the 55 km range […]” (1), pp. 5-6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7DA1F1C-37E9-DE56-AC7B-0BB0AC4451C2}"/>
              </a:ext>
            </a:extLst>
          </p:cNvPr>
          <p:cNvSpPr txBox="1"/>
          <p:nvPr/>
        </p:nvSpPr>
        <p:spPr>
          <a:xfrm>
            <a:off x="-21954" y="8520685"/>
            <a:ext cx="10770919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weight difference between 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hexarotor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QBiT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became smaller for longer-range missions.” (1), p. 6</a:t>
            </a:r>
          </a:p>
        </p:txBody>
      </p:sp>
    </p:spTree>
    <p:extLst>
      <p:ext uri="{BB962C8B-B14F-4D97-AF65-F5344CB8AC3E}">
        <p14:creationId xmlns:p14="http://schemas.microsoft.com/office/powerpoint/2010/main" val="2336354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0C24B8-188D-CA0F-49F9-7E99849120F4}"/>
              </a:ext>
            </a:extLst>
          </p:cNvPr>
          <p:cNvSpPr txBox="1"/>
          <p:nvPr/>
        </p:nvSpPr>
        <p:spPr>
          <a:xfrm>
            <a:off x="0" y="1230539"/>
            <a:ext cx="12213954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“For single-customer delivery, the “switch” of the takeoff weight occurred between a 30 and 50 km range, depending on the payload weight.”(1), p. 5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3E379-0ACD-7C65-1382-1ECF9AFF98EA}"/>
              </a:ext>
            </a:extLst>
          </p:cNvPr>
          <p:cNvSpPr txBox="1"/>
          <p:nvPr/>
        </p:nvSpPr>
        <p:spPr>
          <a:xfrm>
            <a:off x="21954" y="1545934"/>
            <a:ext cx="121920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Hexarotor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“is preferable for short-range flights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multicustomer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delivery.” (1), p.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ADE046-9E5D-FD1B-E9A9-DAD0487C2EA4}"/>
              </a:ext>
            </a:extLst>
          </p:cNvPr>
          <p:cNvSpPr txBox="1"/>
          <p:nvPr/>
        </p:nvSpPr>
        <p:spPr>
          <a:xfrm>
            <a:off x="21953" y="1861330"/>
            <a:ext cx="11954491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QBiT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more efficient in cruise because of its wings, making it a viable option for long-range delivery with a few customers.” (1), p.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79757-B1BD-8FF0-DD6B-CFE828DDB804}"/>
              </a:ext>
            </a:extLst>
          </p:cNvPr>
          <p:cNvSpPr txBox="1"/>
          <p:nvPr/>
        </p:nvSpPr>
        <p:spPr>
          <a:xfrm>
            <a:off x="21954" y="2175541"/>
            <a:ext cx="1153886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takeoff weight was smaller with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hexarotors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shorter ranges, whereas 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hexarotors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became heavier than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QBiTs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longer-range missions.” (1), p. 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9EA2E-F8CE-AE65-9D9B-0264FCC32AA2}"/>
              </a:ext>
            </a:extLst>
          </p:cNvPr>
          <p:cNvSpPr txBox="1"/>
          <p:nvPr/>
        </p:nvSpPr>
        <p:spPr>
          <a:xfrm>
            <a:off x="0" y="2489752"/>
            <a:ext cx="11910951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“For four-customer delivery, 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hexarotor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 was smaller for all payload weights up to the 55 km range […]” (1), pp. 5-6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5AD9C3-2F1A-8211-398D-A20221113489}"/>
              </a:ext>
            </a:extLst>
          </p:cNvPr>
          <p:cNvSpPr txBox="1"/>
          <p:nvPr/>
        </p:nvSpPr>
        <p:spPr>
          <a:xfrm>
            <a:off x="0" y="2773027"/>
            <a:ext cx="10770919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weight difference between 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hexarotor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QBiT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became smaller for longer-range missions.” (1), p. 6</a:t>
            </a:r>
          </a:p>
        </p:txBody>
      </p:sp>
    </p:spTree>
    <p:extLst>
      <p:ext uri="{BB962C8B-B14F-4D97-AF65-F5344CB8AC3E}">
        <p14:creationId xmlns:p14="http://schemas.microsoft.com/office/powerpoint/2010/main" val="2908502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561</Words>
  <Application>Microsoft Macintosh PowerPoint</Application>
  <PresentationFormat>Widescreen</PresentationFormat>
  <Paragraphs>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Replication Kaneko, S., Martins, J.R.R.A., 2023. Fleet Design Optimization of Package Delivery Unmanned Aerial Vehicles Considering Operations. Journal of Aircraft 60, 1061–1077. https://doi.org/10.2514/1.C036921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Janning, Johannes</dc:creator>
  <cp:lastModifiedBy>Janning, Johannes</cp:lastModifiedBy>
  <cp:revision>25</cp:revision>
  <cp:lastPrinted>2026-05-06T14:51:38Z</cp:lastPrinted>
  <dcterms:created xsi:type="dcterms:W3CDTF">2026-05-06T12:37:49Z</dcterms:created>
  <dcterms:modified xsi:type="dcterms:W3CDTF">2026-05-06T15:02:55Z</dcterms:modified>
</cp:coreProperties>
</file>